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3"/>
  </p:notesMasterIdLst>
  <p:sldIdLst>
    <p:sldId id="256" r:id="rId3"/>
    <p:sldId id="257" r:id="rId4"/>
    <p:sldId id="272" r:id="rId5"/>
    <p:sldId id="259" r:id="rId6"/>
    <p:sldId id="260" r:id="rId7"/>
    <p:sldId id="261" r:id="rId8"/>
    <p:sldId id="262" r:id="rId9"/>
    <p:sldId id="263" r:id="rId10"/>
    <p:sldId id="274" r:id="rId11"/>
    <p:sldId id="258" r:id="rId12"/>
    <p:sldId id="264" r:id="rId13"/>
    <p:sldId id="265" r:id="rId14"/>
    <p:sldId id="266" r:id="rId15"/>
    <p:sldId id="271" r:id="rId16"/>
    <p:sldId id="267" r:id="rId17"/>
    <p:sldId id="268" r:id="rId18"/>
    <p:sldId id="269" r:id="rId19"/>
    <p:sldId id="273" r:id="rId20"/>
    <p:sldId id="275" r:id="rId21"/>
    <p:sldId id="27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683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C76EE-488F-2B9E-5D19-E10045F6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B1935-8AA8-AC79-0C29-F27B370E2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C6379-0DDC-8CDF-1E2C-B489DE80C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92A5C-13A4-13AC-06C7-C1FBB1EC5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70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510E4-8372-9707-E4F2-42B7FAD9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4E782-30F8-446F-997A-E2A2D433C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75F8C-9665-BE2F-FAE8-01DD04D47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C6F1D-BFA2-54F1-3B42-3F2F2BBC3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13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27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2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5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5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20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63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18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4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98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7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5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11" Type="http://schemas.openxmlformats.org/officeDocument/2006/relationships/image" Target="../media/image3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bg_diag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0175"/>
            <a:ext cx="10586923" cy="6910121"/>
          </a:xfrm>
          <a:prstGeom prst="rect">
            <a:avLst/>
          </a:prstGeom>
        </p:spPr>
      </p:pic>
      <p:pic>
        <p:nvPicPr>
          <p:cNvPr id="3" name="Image 1" descr="/home/claude/etax_deck3/assets/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16636"/>
            <a:ext cx="3057754" cy="1158545"/>
          </a:xfrm>
          <a:prstGeom prst="rect">
            <a:avLst/>
          </a:prstGeom>
        </p:spPr>
      </p:pic>
      <p:pic>
        <p:nvPicPr>
          <p:cNvPr id="4" name="Image 2" descr="/home/claude/etax_deck3/assets/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" y="5992978"/>
            <a:ext cx="1100023" cy="4169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866290" y="6007608"/>
            <a:ext cx="0" cy="396850"/>
          </a:xfrm>
          <a:prstGeom prst="line">
            <a:avLst/>
          </a:prstGeom>
          <a:noFill/>
          <a:ln w="19050">
            <a:solidFill>
              <a:srgbClr val="19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/>
          <p:cNvSpPr/>
          <p:nvPr/>
        </p:nvSpPr>
        <p:spPr>
          <a:xfrm>
            <a:off x="1866290" y="6055157"/>
            <a:ext cx="6141110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taxation </a:t>
            </a:r>
            <a:r>
              <a:rPr lang="en-US" sz="130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91440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E-Tax AI Assistant</a:t>
            </a:r>
            <a:endParaRPr lang="en-US" sz="5400" dirty="0"/>
          </a:p>
        </p:txBody>
      </p:sp>
      <p:sp>
        <p:nvSpPr>
          <p:cNvPr id="8" name="Text 3"/>
          <p:cNvSpPr/>
          <p:nvPr/>
        </p:nvSpPr>
        <p:spPr>
          <a:xfrm>
            <a:off x="960120" y="32461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Actually Works</a:t>
            </a:r>
            <a:endParaRPr lang="en-US" sz="2100" dirty="0"/>
          </a:p>
        </p:txBody>
      </p:sp>
      <p:sp>
        <p:nvSpPr>
          <p:cNvPr id="9" name="Shape 4"/>
          <p:cNvSpPr/>
          <p:nvPr/>
        </p:nvSpPr>
        <p:spPr>
          <a:xfrm>
            <a:off x="960120" y="3822192"/>
            <a:ext cx="54864" cy="640080"/>
          </a:xfrm>
          <a:prstGeom prst="rect">
            <a:avLst/>
          </a:prstGeom>
          <a:solidFill>
            <a:srgbClr val="E227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097280" y="38404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voice, the fraud model, and the database security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answer the assistant gives.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taxes the traditional way is a hassle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09648" y="2468880"/>
            <a:ext cx="1188720" cy="118872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etax_deck3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181" y="2623414"/>
            <a:ext cx="879653" cy="8796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52448" y="38221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535528" y="284378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4404208" y="2468880"/>
            <a:ext cx="1188720" cy="118872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etax_deck3/icons/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741" y="2623414"/>
            <a:ext cx="879653" cy="8796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47008" y="38221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of paperwork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730088" y="284378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598768" y="2468880"/>
            <a:ext cx="1188720" cy="118872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/home/claude/etax_deck3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301" y="2623414"/>
            <a:ext cx="879653" cy="87965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41568" y="38221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per visit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924648" y="284378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8793328" y="2468880"/>
            <a:ext cx="1188720" cy="1188720"/>
          </a:xfrm>
          <a:prstGeom prst="ellipse">
            <a:avLst/>
          </a:prstGeom>
          <a:solidFill>
            <a:srgbClr val="E227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/home/claude/etax_deck3/icons/triang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7861" y="2623414"/>
            <a:ext cx="879653" cy="87965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36128" y="38221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for human error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process should leave no room for mistakes — but the manual version rarely does.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3F55E-F449-22FC-DCC6-B07660120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>
            <a:extLst>
              <a:ext uri="{FF2B5EF4-FFF2-40B4-BE49-F238E27FC236}">
                <a16:creationId xmlns:a16="http://schemas.microsoft.com/office/drawing/2014/main" id="{15680FFF-087B-4772-7463-8E413D43F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D6BF6A4-C1F4-14A5-480D-B0F683A0A95D}"/>
              </a:ext>
            </a:extLst>
          </p:cNvPr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6099FA0-6028-B959-B702-3632E3187F1F}"/>
              </a:ext>
            </a:extLst>
          </p:cNvPr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32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5A37E255-24DA-8FFD-4CF8-3C06D523D2B9}"/>
              </a:ext>
            </a:extLst>
          </p:cNvPr>
          <p:cNvSpPr/>
          <p:nvPr/>
        </p:nvSpPr>
        <p:spPr>
          <a:xfrm>
            <a:off x="9646920" y="14173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B7773FF9-E425-FD6A-C161-C992B1DA5393}"/>
              </a:ext>
            </a:extLst>
          </p:cNvPr>
          <p:cNvSpPr/>
          <p:nvPr/>
        </p:nvSpPr>
        <p:spPr>
          <a:xfrm>
            <a:off x="868680" y="501091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BEE80BE7-C346-1C6B-F9FD-66E5128DE32D}"/>
              </a:ext>
            </a:extLst>
          </p:cNvPr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1A17E5-3839-7B9F-D817-B8D17D5BB3CB}"/>
              </a:ext>
            </a:extLst>
          </p:cNvPr>
          <p:cNvSpPr/>
          <p:nvPr/>
        </p:nvSpPr>
        <p:spPr>
          <a:xfrm>
            <a:off x="426720" y="1417320"/>
            <a:ext cx="11049000" cy="48310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A699DE-B736-3C1E-A152-759F4141C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200" y="1972018"/>
            <a:ext cx="8627179" cy="3749116"/>
          </a:xfrm>
          <a:prstGeom prst="rect">
            <a:avLst/>
          </a:prstGeom>
        </p:spPr>
      </p:pic>
      <p:pic>
        <p:nvPicPr>
          <p:cNvPr id="10" name="Picture 9" descr="Logo, Icon, and Brand Guidelines | Docker">
            <a:extLst>
              <a:ext uri="{FF2B5EF4-FFF2-40B4-BE49-F238E27FC236}">
                <a16:creationId xmlns:a16="http://schemas.microsoft.com/office/drawing/2014/main" id="{4386E505-5785-C65B-AD5D-3D86BB974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" y="1746466"/>
            <a:ext cx="1987255" cy="1854771"/>
          </a:xfrm>
          <a:prstGeom prst="rect">
            <a:avLst/>
          </a:prstGeom>
        </p:spPr>
      </p:pic>
      <p:pic>
        <p:nvPicPr>
          <p:cNvPr id="11" name="Picture 10" descr="FastAPI Logo PNG Vector (SVG) Free Download">
            <a:extLst>
              <a:ext uri="{FF2B5EF4-FFF2-40B4-BE49-F238E27FC236}">
                <a16:creationId xmlns:a16="http://schemas.microsoft.com/office/drawing/2014/main" id="{EA0D51ED-5D7C-90EE-1611-C7514F91E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238" y="3742982"/>
            <a:ext cx="2034457" cy="203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15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LAYER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become points in a vector space</a:t>
            </a:r>
            <a:endParaRPr lang="en-US" sz="2600" dirty="0"/>
          </a:p>
        </p:txBody>
      </p:sp>
      <p:sp>
        <p:nvSpPr>
          <p:cNvPr id="38" name="Text 31"/>
          <p:cNvSpPr/>
          <p:nvPr/>
        </p:nvSpPr>
        <p:spPr>
          <a:xfrm>
            <a:off x="396240" y="617311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6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faces land close together; verification checks distance, not pixels.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BF8B5A4-18BA-CA51-0202-D10581852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047" y="1444752"/>
            <a:ext cx="8270240" cy="45147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LAYER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Anti-spoofing: liveness beats a static face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815188" y="2221992"/>
            <a:ext cx="5120640" cy="2638957"/>
          </a:xfrm>
          <a:prstGeom prst="roundRect">
            <a:avLst>
              <a:gd name="adj" fmla="val 2857"/>
            </a:avLst>
          </a:prstGeom>
          <a:solidFill>
            <a:srgbClr val="E7ECF3"/>
          </a:solidFill>
          <a:ln w="12700">
            <a:solidFill>
              <a:srgbClr val="3E5D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15188" y="3200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 — replace with real capture 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055468" y="5212080"/>
            <a:ext cx="640080" cy="64008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etax_deck3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678" y="529529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5188" y="5943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face — passes liveness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55868" y="2210672"/>
            <a:ext cx="5120640" cy="2650277"/>
          </a:xfrm>
          <a:prstGeom prst="roundRect">
            <a:avLst>
              <a:gd name="adj" fmla="val 2857"/>
            </a:avLst>
          </a:prstGeom>
          <a:solidFill>
            <a:srgbClr val="E7ECF3"/>
          </a:solidFill>
          <a:ln w="12700">
            <a:solidFill>
              <a:srgbClr val="3E5D8F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255868" y="3200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 — replace with real capture ]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496148" y="5212080"/>
            <a:ext cx="640080" cy="640080"/>
          </a:xfrm>
          <a:prstGeom prst="ellipse">
            <a:avLst/>
          </a:prstGeom>
          <a:solidFill>
            <a:srgbClr val="E227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etax_deck3/icons/times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9358" y="5295290"/>
            <a:ext cx="473659" cy="473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55868" y="5943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screen / deepfake — rejected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4476ECC-D4CB-881A-D3F4-19ACC55B69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0438" y="2142672"/>
            <a:ext cx="5516423" cy="28267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A82A0D-EB35-FAC6-9F4B-0F3BF2BF0B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270" y="2142672"/>
            <a:ext cx="5274473" cy="2797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LAYER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voice assistant lets you do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822960" y="2651760"/>
            <a:ext cx="1188720" cy="118872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etax_deck3/icons/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2806294"/>
            <a:ext cx="879653" cy="8796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11680" y="3246120"/>
            <a:ext cx="1280160" cy="0"/>
          </a:xfrm>
          <a:prstGeom prst="line">
            <a:avLst/>
          </a:prstGeom>
          <a:noFill/>
          <a:ln w="12700">
            <a:solidFill>
              <a:srgbClr val="3E5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91840" y="1783080"/>
            <a:ext cx="7863840" cy="777240"/>
          </a:xfrm>
          <a:prstGeom prst="roundRect">
            <a:avLst>
              <a:gd name="adj" fmla="val 10588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456432" y="1920240"/>
            <a:ext cx="502920" cy="50292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/home/claude/etax_deck3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812" y="198562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14800" y="17830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 question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2011680" y="3246120"/>
            <a:ext cx="1280160" cy="0"/>
          </a:xfrm>
          <a:prstGeom prst="line">
            <a:avLst/>
          </a:prstGeom>
          <a:noFill/>
          <a:ln w="12700">
            <a:solidFill>
              <a:srgbClr val="3E5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3291840" y="2761488"/>
            <a:ext cx="7863840" cy="777240"/>
          </a:xfrm>
          <a:prstGeom prst="roundRect">
            <a:avLst>
              <a:gd name="adj" fmla="val 10588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456432" y="2898648"/>
            <a:ext cx="502920" cy="50292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/home/claude/etax_deck3/icons/com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1812" y="2964028"/>
            <a:ext cx="372161" cy="37216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114800" y="276148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instead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011680" y="3246120"/>
            <a:ext cx="1280160" cy="882396"/>
          </a:xfrm>
          <a:prstGeom prst="line">
            <a:avLst/>
          </a:prstGeom>
          <a:noFill/>
          <a:ln w="12700">
            <a:solidFill>
              <a:srgbClr val="3E5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3291840" y="3739896"/>
            <a:ext cx="7863840" cy="777240"/>
          </a:xfrm>
          <a:prstGeom prst="roundRect">
            <a:avLst>
              <a:gd name="adj" fmla="val 10588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3456432" y="3877056"/>
            <a:ext cx="502920" cy="502920"/>
          </a:xfrm>
          <a:prstGeom prst="ellipse">
            <a:avLst/>
          </a:prstGeom>
          <a:solidFill>
            <a:srgbClr val="E227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/home/claude/etax_deck3/icons/exch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1812" y="3942436"/>
            <a:ext cx="372161" cy="37216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14800" y="3739896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language mid-chat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2011680" y="3246120"/>
            <a:ext cx="1280160" cy="1860804"/>
          </a:xfrm>
          <a:prstGeom prst="line">
            <a:avLst/>
          </a:prstGeom>
          <a:noFill/>
          <a:ln w="12700">
            <a:solidFill>
              <a:srgbClr val="3E5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3291840" y="4718304"/>
            <a:ext cx="7863840" cy="777240"/>
          </a:xfrm>
          <a:prstGeom prst="roundRect">
            <a:avLst>
              <a:gd name="adj" fmla="val 10588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3456432" y="4855464"/>
            <a:ext cx="502920" cy="50292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/home/claude/etax_deck3/icons/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1812" y="4920844"/>
            <a:ext cx="372161" cy="37216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114800" y="4718304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spoken reply back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AD5AB9D4-2676-28C7-BB69-53AD2BD92C78}"/>
              </a:ext>
            </a:extLst>
          </p:cNvPr>
          <p:cNvSpPr/>
          <p:nvPr/>
        </p:nvSpPr>
        <p:spPr>
          <a:xfrm flipV="1">
            <a:off x="2011680" y="2267712"/>
            <a:ext cx="1261872" cy="973328"/>
          </a:xfrm>
          <a:prstGeom prst="line">
            <a:avLst/>
          </a:prstGeom>
          <a:noFill/>
          <a:ln w="12700">
            <a:solidFill>
              <a:srgbClr val="3E5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LAYER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pipeline, and live language switching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822960" y="160020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(mic)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148840" y="2148840"/>
            <a:ext cx="0" cy="2880360"/>
          </a:xfrm>
          <a:prstGeom prst="line">
            <a:avLst/>
          </a:prstGeom>
          <a:noFill/>
          <a:ln w="9525">
            <a:solidFill>
              <a:srgbClr val="3E5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0" y="160020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0" y="1600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97880" y="2148840"/>
            <a:ext cx="0" cy="2880360"/>
          </a:xfrm>
          <a:prstGeom prst="line">
            <a:avLst/>
          </a:prstGeom>
          <a:noFill/>
          <a:ln w="9525">
            <a:solidFill>
              <a:srgbClr val="3E5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778240" y="160020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778240" y="1600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Transcribe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104120" y="2148840"/>
            <a:ext cx="0" cy="2880360"/>
          </a:xfrm>
          <a:prstGeom prst="line">
            <a:avLst/>
          </a:prstGeom>
          <a:noFill/>
          <a:ln w="9525">
            <a:solidFill>
              <a:srgbClr val="3E5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148840" y="2423160"/>
            <a:ext cx="3749040" cy="0"/>
          </a:xfrm>
          <a:prstGeom prst="line">
            <a:avLst/>
          </a:prstGeom>
          <a:noFill/>
          <a:ln w="15875">
            <a:solidFill>
              <a:srgbClr val="1937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148840" y="2130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(detect role)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148840" y="2971800"/>
            <a:ext cx="3749040" cy="0"/>
          </a:xfrm>
          <a:prstGeom prst="line">
            <a:avLst/>
          </a:prstGeom>
          <a:noFill/>
          <a:ln w="15875">
            <a:solidFill>
              <a:srgbClr val="193768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148840" y="2679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+ detected language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148840" y="3520440"/>
            <a:ext cx="7955280" cy="0"/>
          </a:xfrm>
          <a:prstGeom prst="line">
            <a:avLst/>
          </a:prstGeom>
          <a:noFill/>
          <a:ln w="15875">
            <a:solidFill>
              <a:srgbClr val="1937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148840" y="322783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audio + language code (transcribe role)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148840" y="4069080"/>
            <a:ext cx="7955280" cy="0"/>
          </a:xfrm>
          <a:prstGeom prst="line">
            <a:avLst/>
          </a:prstGeom>
          <a:noFill/>
          <a:ln w="15875">
            <a:solidFill>
              <a:srgbClr val="193768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148840" y="377647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transcript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434340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2960" y="43434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unavailable? Groq's own transcript is used directly — no wasted call.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22960" y="5074920"/>
            <a:ext cx="5120640" cy="1005840"/>
          </a:xfrm>
          <a:prstGeom prst="roundRect">
            <a:avLst>
              <a:gd name="adj" fmla="val 50000"/>
            </a:avLst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05840" y="50749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"إمتى آخر موعد لتقديم الإقرار؟"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45352" y="5257800"/>
            <a:ext cx="640080" cy="640080"/>
          </a:xfrm>
          <a:prstGeom prst="ellipse">
            <a:avLst/>
          </a:prstGeom>
          <a:solidFill>
            <a:srgbClr val="E227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/home/claude/etax_deck3/icons/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562" y="5341010"/>
            <a:ext cx="473659" cy="473659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7178040" y="5074920"/>
            <a:ext cx="4206240" cy="100584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360920" y="50749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about my VAT filing?"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LAYER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Text-to-speech: fallback, and an Egyptian voice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280160" y="210312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926080" y="2423160"/>
            <a:ext cx="822960" cy="822960"/>
          </a:xfrm>
          <a:prstGeom prst="ellipse">
            <a:avLst/>
          </a:prstGeom>
          <a:solidFill>
            <a:srgbClr val="E227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etax_deck3/icons/com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065" y="2530145"/>
            <a:ext cx="608990" cy="6089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0160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7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Egyptian colloquial voice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349240" y="2953512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257800" y="33101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46520" y="210312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2F5F9"/>
          </a:solidFill>
          <a:ln w="12700">
            <a:solidFill>
              <a:srgbClr val="3E5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92440" y="2423160"/>
            <a:ext cx="822960" cy="82296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etax_deck3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425" y="2530145"/>
            <a:ext cx="608990" cy="6089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TTS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46520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ElevenLabs is unavailable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2960" y="4846320"/>
            <a:ext cx="10607040" cy="1188720"/>
          </a:xfrm>
          <a:prstGeom prst="roundRect">
            <a:avLst>
              <a:gd name="adj" fmla="val 769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097280" y="4983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speech model would be more private — but this system uses hosted APIs deliberately, for GPU access and a faster demo response. A real deployment could trade that speed for a self-hosted, more secure setup.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52575"/>
            <a:ext cx="11049000" cy="46403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50" b="0" i="0" u="none" strike="noStrike" kern="1200" cap="none" spc="0" normalizeH="0" baseline="0" noProof="0">
                <a:ln>
                  <a:noFill/>
                </a:ln>
                <a:solidFill>
                  <a:srgbClr val="002F6D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Ownership-Based Data Exposure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562100"/>
          <a:ext cx="11029948" cy="4621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3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531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Poppins Medium"/>
                        </a:rPr>
                        <a:t>Secure View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Poppins Medium"/>
                        </a:rPr>
                        <a:t>Ownership Rule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FFFFF"/>
                          </a:solidFill>
                          <a:latin typeface="Poppins Medium"/>
                        </a:rPr>
                        <a:t>Permitted Data Exposure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53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Company Metadata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tax.v_my_companies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Any Share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General access to user's affiliated companies, core taxpayer details, ownership percentage, and access level.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53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Majority Financials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tax.v_majority_transactions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tax.v_majority_items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Share &gt; 50%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Full Visibility: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 Allows the agent to query detailed Sales figures, Tax amounts, and line-item details.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53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Minority Financials</a:t>
                      </a:r>
                      <a:r>
                        <a:t>
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tax.v_minority_transactions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Share ≤ 50%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Inter"/>
                        </a:rPr>
                        <a:t>Restricted Visibility: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 Exposes Tax obligations only. Sales data is redacted, and no line-item view is provided.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599408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41477" y="3599408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47408" y="3599408"/>
            <a:ext cx="49635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1025" y="4889003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41477" y="4889003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47408" y="4889003"/>
            <a:ext cx="49635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227" y="2552700"/>
            <a:ext cx="904875" cy="32757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227" y="3842295"/>
            <a:ext cx="1076325" cy="32757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227" y="5131891"/>
            <a:ext cx="1063823" cy="327570"/>
          </a:xfrm>
          <a:prstGeom prst="rect">
            <a:avLst/>
          </a:prstGeom>
        </p:spPr>
      </p:pic>
      <p:pic>
        <p:nvPicPr>
          <p:cNvPr id="15" name="Image 0" descr="/home/claude/etax_deck3/assets/logo_small.png">
            <a:extLst>
              <a:ext uri="{FF2B5EF4-FFF2-40B4-BE49-F238E27FC236}">
                <a16:creationId xmlns:a16="http://schemas.microsoft.com/office/drawing/2014/main" id="{5BB96E4D-7C9B-A92A-3962-37F27110C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— an intent router with judgment</a:t>
            </a:r>
            <a:endParaRPr lang="en-US" sz="2600" dirty="0"/>
          </a:p>
        </p:txBody>
      </p:sp>
      <p:sp>
        <p:nvSpPr>
          <p:cNvPr id="22" name="Text 13"/>
          <p:cNvSpPr/>
          <p:nvPr/>
        </p:nvSpPr>
        <p:spPr>
          <a:xfrm>
            <a:off x="9646920" y="14173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8" name="Shape 23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4"/>
          <p:cNvSpPr/>
          <p:nvPr/>
        </p:nvSpPr>
        <p:spPr>
          <a:xfrm>
            <a:off x="868680" y="501091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decides what kind of help you need first, and only then checks who you are and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allowed to see — at every step along the way.</a:t>
            </a:r>
            <a:endParaRPr lang="en-US" sz="1400" dirty="0"/>
          </a:p>
        </p:txBody>
      </p:sp>
      <p:sp>
        <p:nvSpPr>
          <p:cNvPr id="40" name="Text 2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854F7BD-3412-600A-4E5C-D53CD121B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1410210"/>
            <a:ext cx="6441440" cy="35163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 MODEL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showed</a:t>
            </a:r>
            <a:endParaRPr lang="en-US" sz="2600" dirty="0"/>
          </a:p>
        </p:txBody>
      </p:sp>
      <p:pic>
        <p:nvPicPr>
          <p:cNvPr id="5" name="Image 1" descr="/home/claude/etax_deck3/assets/eda_fraud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48840"/>
            <a:ext cx="4572000" cy="18077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41148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10.7% of cases are fraud — a meaningfully imbalanced target, which is why evaluation is recall-first (see next) rather than relying on naive resampling.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532120" y="1417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CORRELATION WITH FRAUD</a:t>
            </a:r>
            <a:endParaRPr lang="en-US" sz="1100" dirty="0"/>
          </a:p>
        </p:txBody>
      </p:sp>
      <p:pic>
        <p:nvPicPr>
          <p:cNvPr id="8" name="Image 2" descr="/home/claude/etax_deck3/assets/eda_correlation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691640"/>
            <a:ext cx="4206240" cy="36758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868680" y="55321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outlier isn't automatically bad data. In this dataset, an extreme value can mean a genuinely large company, an unusual but valid transaction — or a real fraud signal.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 MODEL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feature relates to every other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full correlation view is what guided feature engineering — which ratios to derive, which raw fields were redundant, and which stood alone.</a:t>
            </a:r>
            <a:endParaRPr lang="en-US" sz="1300" dirty="0"/>
          </a:p>
        </p:txBody>
      </p:sp>
      <p:pic>
        <p:nvPicPr>
          <p:cNvPr id="6" name="Image 1" descr="/home/claude/etax_deck3/assets/eda_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388" y="1965960"/>
            <a:ext cx="5074920" cy="46129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 MODEL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comes first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108960" y="1051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Fraud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0" y="1051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554480" y="17373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Fraud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554480" y="31089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08960" y="1737360"/>
            <a:ext cx="3291840" cy="1371600"/>
          </a:xfrm>
          <a:prstGeom prst="rect">
            <a:avLst/>
          </a:prstGeom>
          <a:solidFill>
            <a:srgbClr val="F2F5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08960" y="1737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1737360"/>
            <a:ext cx="3291840" cy="1371600"/>
          </a:xfrm>
          <a:prstGeom prst="rect">
            <a:avLst/>
          </a:prstGeom>
          <a:solidFill>
            <a:srgbClr val="FBEA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1737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(unnecessary review —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catchable by a human)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108960" y="3108960"/>
            <a:ext cx="3291840" cy="1371600"/>
          </a:xfrm>
          <a:prstGeom prst="rect">
            <a:avLst/>
          </a:prstGeom>
          <a:solidFill>
            <a:srgbClr val="FBEAE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08960" y="31089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(fraud passes through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0" y="3108960"/>
            <a:ext cx="3291840" cy="1371600"/>
          </a:xfrm>
          <a:prstGeom prst="rect">
            <a:avLst/>
          </a:prstGeom>
          <a:solidFill>
            <a:srgbClr val="E2272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0" y="31089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serious error is the bottom-left cell — so recall is prioritized over precision.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 metrics: ROC-AUC · PR-AUC · Threshold · Precision · Recall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D597B-55A4-EE8B-1112-DED6321E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>
            <a:extLst>
              <a:ext uri="{FF2B5EF4-FFF2-40B4-BE49-F238E27FC236}">
                <a16:creationId xmlns:a16="http://schemas.microsoft.com/office/drawing/2014/main" id="{914B99DF-DC0A-4C27-0533-6FA82D56F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CD19D6B-8AA5-E170-68D0-9C2F9C0C369A}"/>
              </a:ext>
            </a:extLst>
          </p:cNvPr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 MODEL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C6A3051-384F-A7B0-5241-DE5FAEDC5268}"/>
              </a:ext>
            </a:extLst>
          </p:cNvPr>
          <p:cNvSpPr/>
          <p:nvPr/>
        </p:nvSpPr>
        <p:spPr>
          <a:xfrm>
            <a:off x="548640" y="600964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comes first</a:t>
            </a:r>
            <a:endParaRPr lang="en-US" sz="2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722964A-0135-FC46-C46D-E77CCDED01C9}"/>
              </a:ext>
            </a:extLst>
          </p:cNvPr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2533805-A52F-1BD1-35D2-D8E867BDE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1468120"/>
            <a:ext cx="8290560" cy="452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63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form to a confirmation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849728" y="1965960"/>
            <a:ext cx="1143000" cy="114300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etax_deck3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318" y="2114550"/>
            <a:ext cx="845820" cy="8458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38248" y="32735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pulled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database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084168" y="23180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4632808" y="1965960"/>
            <a:ext cx="1143000" cy="114300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etax_deck3/icons/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398" y="2114550"/>
            <a:ext cx="845820" cy="8458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21328" y="32735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review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the user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867248" y="23180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415888" y="1965960"/>
            <a:ext cx="1143000" cy="1143000"/>
          </a:xfrm>
          <a:prstGeom prst="ellipse">
            <a:avLst/>
          </a:prstGeom>
          <a:solidFill>
            <a:srgbClr val="E227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/home/claude/etax_deck3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4478" y="2114550"/>
            <a:ext cx="845820" cy="8458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04408" y="32735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confirms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corrects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650328" y="23180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8198968" y="1965960"/>
            <a:ext cx="1143000" cy="1143000"/>
          </a:xfrm>
          <a:prstGeom prst="ellipse">
            <a:avLst/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/home/claude/etax_deck3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7558" y="2114550"/>
            <a:ext cx="845820" cy="8458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87488" y="32735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scores it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22960" y="4160520"/>
            <a:ext cx="10607040" cy="1371600"/>
          </a:xfrm>
          <a:prstGeom prst="roundRect">
            <a:avLst>
              <a:gd name="adj" fmla="val 6667"/>
            </a:avLst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1188720" y="429768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invents values the user never actually had — it retrieves what's real in their own data and asks for confirmation, not manual entry.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ends and code begins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212080" cy="2880360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6012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handles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560320"/>
            <a:ext cx="45720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a message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intent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values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Phrasing an answer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scoped SQL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results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212080" cy="2880360"/>
          </a:xfrm>
          <a:prstGeom prst="roundRect">
            <a:avLst>
              <a:gd name="adj" fmla="val 3175"/>
            </a:avLst>
          </a:prstGeom>
          <a:solidFill>
            <a:srgbClr val="002F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3796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the database decide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2560320"/>
            <a:ext cx="45720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permissions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handling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 prediction itself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is actually returned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89204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" y="5074920"/>
            <a:ext cx="640080" cy="640080"/>
          </a:xfrm>
          <a:prstGeom prst="ellipse">
            <a:avLst/>
          </a:prstGeom>
          <a:solidFill>
            <a:srgbClr val="E227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etax_deck3/icons/pa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" y="515813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493776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skips a field mid-assessment → the workflow pauses, waits, and resumes exactly where it left off once she fills it in. Nothing restarts.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3A3CC63-5DE8-F16A-1D6F-08CDEE007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861" y="2613569"/>
            <a:ext cx="1547733" cy="15037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F1DD5A-0282-C179-71BC-6678733A7B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4410" y="2522728"/>
            <a:ext cx="1457416" cy="1515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2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228600" y="84928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7091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C76786C-3685-A431-1F73-46CC4D328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" y="1691640"/>
            <a:ext cx="9052560" cy="4774254"/>
          </a:xfrm>
          <a:prstGeom prst="rect">
            <a:avLst/>
          </a:prstGeom>
        </p:spPr>
      </p:pic>
      <p:pic>
        <p:nvPicPr>
          <p:cNvPr id="37" name="Picture 36" descr="Postgresql plain wordmark logo - free Icon PNG, SVG">
            <a:extLst>
              <a:ext uri="{FF2B5EF4-FFF2-40B4-BE49-F238E27FC236}">
                <a16:creationId xmlns:a16="http://schemas.microsoft.com/office/drawing/2014/main" id="{9A027686-39E8-DFBD-FAC2-37CC938BE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749" y="1489362"/>
            <a:ext cx="2310478" cy="23104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43075"/>
            <a:ext cx="3492549" cy="4543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743075"/>
            <a:ext cx="3492549" cy="454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743075"/>
            <a:ext cx="3492549" cy="4543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50" b="0" i="0" u="none" strike="noStrike" kern="1200" cap="none" spc="0" normalizeH="0" baseline="0" noProof="0" dirty="0">
                <a:ln>
                  <a:noFill/>
                </a:ln>
                <a:solidFill>
                  <a:srgbClr val="002F6D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Layer Security Model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181225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076575"/>
            <a:ext cx="196024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2F6D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1. Secure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62350"/>
            <a:ext cx="2901999" cy="1553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All queries run against specific views utilizing security_invoker = true. Views strictly filter data based on the dynamic session variable app.current_user_id, guaranteeing contextual isolation.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181225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076575"/>
            <a:ext cx="281035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2F6D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2. Row-Level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562350"/>
            <a:ext cx="2901999" cy="181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Forced RLS is active on core tables (company_owners, transactions, items). User IDs are enforced purely by the database session configuration, making it impossible for the LLM to hallucinate or bypass IDs.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2181225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076575"/>
            <a:ext cx="255031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2F6D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3. Role Segregation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562350"/>
            <a:ext cx="2901999" cy="1553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The LLM operates exclusively as app_agent. This non-superuser role possesses NOBYPASSRLS and holds tightly scoped SELECT grants, with absolutely zero access to the authentication schema.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2362200"/>
            <a:ext cx="3429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5099" y="2362200"/>
            <a:ext cx="2667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6249" y="2362200"/>
            <a:ext cx="381000" cy="304800"/>
          </a:xfrm>
          <a:prstGeom prst="rect">
            <a:avLst/>
          </a:prstGeom>
        </p:spPr>
      </p:pic>
      <p:pic>
        <p:nvPicPr>
          <p:cNvPr id="19" name="Image 0" descr="/home/claude/etax_deck3/assets/logo_small.png">
            <a:extLst>
              <a:ext uri="{FF2B5EF4-FFF2-40B4-BE49-F238E27FC236}">
                <a16:creationId xmlns:a16="http://schemas.microsoft.com/office/drawing/2014/main" id="{7E24D221-6182-7547-B726-0F072D7C9A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0"/>
            <a:ext cx="47625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1630709"/>
            <a:ext cx="1333500" cy="133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0763" y="3249959"/>
            <a:ext cx="3790473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spc="0" normalizeH="0" baseline="0" noProof="0">
                <a:ln>
                  <a:noFill/>
                </a:ln>
                <a:solidFill>
                  <a:srgbClr val="002F6D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Live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0" y="428997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E22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1875" y="4861470"/>
            <a:ext cx="50482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Switching to the live application environment...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150" y="2011709"/>
            <a:ext cx="647700" cy="571500"/>
          </a:xfrm>
          <a:prstGeom prst="rect">
            <a:avLst/>
          </a:prstGeom>
        </p:spPr>
      </p:pic>
      <p:pic>
        <p:nvPicPr>
          <p:cNvPr id="9" name="Image 0" descr="/home/claude/etax_deck3/assets/logo_small.png">
            <a:extLst>
              <a:ext uri="{FF2B5EF4-FFF2-40B4-BE49-F238E27FC236}">
                <a16:creationId xmlns:a16="http://schemas.microsoft.com/office/drawing/2014/main" id="{751BC0E4-AC86-F334-CC5A-126F417B7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9373" y="364846"/>
            <a:ext cx="1283818" cy="4873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tax_deck3/assets/bg_diag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0175"/>
            <a:ext cx="10586923" cy="6910121"/>
          </a:xfrm>
          <a:prstGeom prst="rect">
            <a:avLst/>
          </a:prstGeom>
        </p:spPr>
      </p:pic>
      <p:pic>
        <p:nvPicPr>
          <p:cNvPr id="3" name="Image 1" descr="/home/claude/etax_deck3/assets/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16636"/>
            <a:ext cx="3057754" cy="1158545"/>
          </a:xfrm>
          <a:prstGeom prst="rect">
            <a:avLst/>
          </a:prstGeom>
        </p:spPr>
      </p:pic>
      <p:pic>
        <p:nvPicPr>
          <p:cNvPr id="4" name="Image 2" descr="/home/claude/etax_deck3/assets/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" y="5992978"/>
            <a:ext cx="1100023" cy="4169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866290" y="6007608"/>
            <a:ext cx="0" cy="396850"/>
          </a:xfrm>
          <a:prstGeom prst="line">
            <a:avLst/>
          </a:prstGeom>
          <a:noFill/>
          <a:ln w="19050">
            <a:solidFill>
              <a:srgbClr val="19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/>
          <p:cNvSpPr/>
          <p:nvPr/>
        </p:nvSpPr>
        <p:spPr>
          <a:xfrm>
            <a:off x="1866290" y="6055157"/>
            <a:ext cx="6141110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taxation </a:t>
            </a:r>
            <a:r>
              <a:rPr lang="en-US" sz="1300" dirty="0">
                <a:solidFill>
                  <a:srgbClr val="19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4072738" y="237744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02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8" name="Text 3"/>
          <p:cNvSpPr/>
          <p:nvPr/>
        </p:nvSpPr>
        <p:spPr>
          <a:xfrm>
            <a:off x="2578100" y="3697326"/>
            <a:ext cx="703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5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stays in code and the database. AI handles language — nothing more, nothing less.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958</Words>
  <Application>Microsoft Office PowerPoint</Application>
  <PresentationFormat>Widescreen</PresentationFormat>
  <Paragraphs>177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Courier New</vt:lpstr>
      <vt:lpstr>Inter</vt:lpstr>
      <vt:lpstr>Poppins</vt:lpstr>
      <vt:lpstr>Poppins Medium</vt:lpstr>
      <vt:lpstr>Poppins SemiBold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مريم امجد سالم سلامة</cp:lastModifiedBy>
  <cp:revision>4</cp:revision>
  <dcterms:created xsi:type="dcterms:W3CDTF">2026-08-25T20:19:01Z</dcterms:created>
  <dcterms:modified xsi:type="dcterms:W3CDTF">2026-08-26T08:24:01Z</dcterms:modified>
</cp:coreProperties>
</file>